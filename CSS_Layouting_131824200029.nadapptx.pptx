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95" r:id="rId5"/>
    <p:sldId id="258" r:id="rId6"/>
    <p:sldId id="296" r:id="rId7"/>
    <p:sldId id="259" r:id="rId8"/>
    <p:sldId id="260" r:id="rId9"/>
    <p:sldId id="261" r:id="rId10"/>
    <p:sldId id="297" r:id="rId11"/>
    <p:sldId id="299" r:id="rId12"/>
    <p:sldId id="300" r:id="rId13"/>
    <p:sldId id="301" r:id="rId14"/>
    <p:sldId id="262" r:id="rId15"/>
    <p:sldId id="302" r:id="rId16"/>
    <p:sldId id="303" r:id="rId17"/>
    <p:sldId id="263" r:id="rId18"/>
    <p:sldId id="304" r:id="rId19"/>
    <p:sldId id="264" r:id="rId20"/>
    <p:sldId id="305" r:id="rId21"/>
    <p:sldId id="265" r:id="rId22"/>
    <p:sldId id="306" r:id="rId23"/>
    <p:sldId id="266" r:id="rId24"/>
    <p:sldId id="307" r:id="rId25"/>
    <p:sldId id="267" r:id="rId26"/>
    <p:sldId id="311" r:id="rId27"/>
    <p:sldId id="268" r:id="rId28"/>
    <p:sldId id="308" r:id="rId29"/>
    <p:sldId id="309" r:id="rId30"/>
    <p:sldId id="310" r:id="rId31"/>
    <p:sldId id="269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EC48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CSS &amp; Layouting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80005" y="3291840"/>
            <a:ext cx="398399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0F0F0"/>
                </a:solidFill>
              </a:rPr>
              <a:t>Pemrograman Berbasis Web</a:t>
            </a:r>
            <a:endParaRPr sz="2000">
              <a:solidFill>
                <a:srgbClr val="F0F0F0"/>
              </a:solidFill>
            </a:endParaRPr>
          </a:p>
          <a:p>
            <a:pPr algn="ctr"/>
            <a:r>
              <a:rPr lang="en-US" sz="2000">
                <a:solidFill>
                  <a:srgbClr val="F0F0F0"/>
                </a:solidFill>
              </a:rPr>
              <a:t>Qothrunnada Ashfiya - 13182420029</a:t>
            </a:r>
            <a:endParaRPr lang="en-US" sz="2000">
              <a:solidFill>
                <a:srgbClr val="F0F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Apa itu CSS?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85800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CSS (Cascading Style Sheets) adalah bahasa yang digunakan untuk mengatur tampilan (style) halaman web agar lebih menarik dan rapi.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23405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Apa </a:t>
            </a:r>
            <a:r>
              <a:rPr lang="en-US" sz="3600" b="1">
                <a:solidFill>
                  <a:srgbClr val="FFFFFF"/>
                </a:solidFill>
              </a:rPr>
              <a:t>Fungsi </a:t>
            </a:r>
            <a:r>
              <a:rPr sz="3600" b="1">
                <a:solidFill>
                  <a:srgbClr val="FFFFFF"/>
                </a:solidFill>
              </a:rPr>
              <a:t>CSS?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85800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Fungsi utama CSS: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E6E6E6"/>
                </a:solidFill>
              </a:defRPr>
            </a:pPr>
            <a:r>
              <a:rPr lang="en-US" altLang="en-US"/>
              <a:t>Mengatur warna, font, ukuran teks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E6E6E6"/>
                </a:solidFill>
              </a:defRPr>
            </a:pPr>
            <a:r>
              <a:rPr lang="en-US" altLang="en-US"/>
              <a:t>Mengatur posisi elemen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E6E6E6"/>
                </a:solidFill>
              </a:defRPr>
            </a:pPr>
            <a:r>
              <a:rPr lang="en-US" altLang="en-US"/>
              <a:t>Membuat layout halaman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E6E6E6"/>
                </a:solidFill>
              </a:defRPr>
            </a:pPr>
            <a:r>
              <a:rPr lang="en-US" altLang="en-US"/>
              <a:t>Membuat tampilan responsif (menyesuaikan layar)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1445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3600" b="1">
                <a:solidFill>
                  <a:srgbClr val="FFFFFF"/>
                </a:solidFill>
              </a:rPr>
              <a:t>Why using CSS?</a:t>
            </a:r>
            <a:endParaRPr lang="en-US" alt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Ada 3 cara penggunaan CSS: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I</a:t>
            </a:r>
            <a:r>
              <a:rPr>
                <a:sym typeface="+mn-ea"/>
              </a:rPr>
              <a:t>nline, Internal, External</a:t>
            </a:r>
            <a:endParaRPr>
              <a:sym typeface="+mn-ea"/>
            </a:endParaRPr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3"/>
          <p:cNvSpPr txBox="1"/>
          <p:nvPr/>
        </p:nvSpPr>
        <p:spPr>
          <a:xfrm>
            <a:off x="731520" y="3728720"/>
            <a:ext cx="6858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1445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3600" b="1">
                <a:solidFill>
                  <a:srgbClr val="FFFFFF"/>
                </a:solidFill>
              </a:rPr>
              <a:t>Why using CSS?</a:t>
            </a:r>
            <a:endParaRPr lang="en-US" alt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Ada 3 cara penggunaan CSS: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1. I nline CSS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Langsung di dalam tag HTML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&lt;p style="color:red;"&gt;Teks merah&lt;/p&gt;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3"/>
          <p:cNvSpPr txBox="1"/>
          <p:nvPr/>
        </p:nvSpPr>
        <p:spPr>
          <a:xfrm>
            <a:off x="731520" y="3728720"/>
            <a:ext cx="685800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2. Internal CSS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Di dalam tag &lt;style&gt; pada &lt;head&gt;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&lt;style&gt;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  p { color: blue; }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&lt;/style&gt;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en-US" b="1">
                <a:solidFill>
                  <a:srgbClr val="FFFFFF"/>
                </a:solidFill>
                <a:sym typeface="+mn-ea"/>
              </a:rPr>
              <a:t>             Why using CSS?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3. External CSS (paling direkomendasikan)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File terpisah .css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&lt;link rel="stylesheet" href="style.css"&gt;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3620" y="1795780"/>
            <a:ext cx="378523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 b="1">
                <a:sym typeface="+mn-ea"/>
              </a:rPr>
              <a:t>Selector dalam CSS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3620" y="2573020"/>
            <a:ext cx="685800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Selector digunakan untuk memilih elemen yang akan diberi style.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Contoh: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Element selector → p { }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Class selector → .namaClass { }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ID selector → #namaID { }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Universal selector → * { }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06793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3600" b="1">
                <a:solidFill>
                  <a:srgbClr val="FFFFFF"/>
                </a:solidFill>
              </a:rPr>
              <a:t>Box Model (Dasar Layout)</a:t>
            </a:r>
            <a:endParaRPr lang="en-US" alt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285240"/>
            <a:ext cx="685800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Setiap elemen HTML dianggap sebagai kotak yang terdiri dari: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Content (isi)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Padding (jarak dalam)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Border (garis tepi)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Margin (jarak luar)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3620" y="1795780"/>
            <a:ext cx="320040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 b="1">
                <a:sym typeface="+mn-ea"/>
              </a:rPr>
              <a:t>Contoh Selector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3620" y="2573020"/>
            <a:ext cx="6858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>
                <a:sym typeface="+mn-ea"/>
              </a:rPr>
              <a:t>p {}, .class {}, #id {}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529205"/>
            <a:ext cx="5952490" cy="10871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lang="en-US" altLang="en-US" sz="3600" b="1">
                <a:solidFill>
                  <a:srgbClr val="FFFFFF"/>
                </a:solidFill>
              </a:rPr>
              <a:t>Box Model (Dasar Layout)</a:t>
            </a:r>
            <a:endParaRPr lang="en-US" alt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3178810"/>
            <a:ext cx="685800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>
                <a:sym typeface="+mn-ea"/>
              </a:rPr>
              <a:t>Konsep ini penting banget untuk layouting.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6725"/>
            <a:ext cx="506793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3600" b="1">
                <a:solidFill>
                  <a:srgbClr val="FFFFFF"/>
                </a:solidFill>
              </a:rPr>
              <a:t>Box Model (Dasar Layout)</a:t>
            </a:r>
            <a:endParaRPr lang="en-US" alt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685800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Setiap elemen HTML dianggap sebagai kotak yang terdiri dari: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Content (isi)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Padding (jarak dalam)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Border (garis tepi)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Margin (jarak luar)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67347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>
                <a:sym typeface="+mn-ea"/>
              </a:rPr>
              <a:t>Visual Box 	Model</a:t>
            </a:r>
            <a:endParaRPr lang="en-US" sz="3600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6858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>
                <a:sym typeface="+mn-ea"/>
              </a:rPr>
              <a:t>[Ilustrasi Box Model]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35480"/>
            <a:ext cx="439102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3600" b="1">
                <a:sym typeface="+mn-ea"/>
              </a:rPr>
              <a:t>Posttioning dalam CSS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580640"/>
            <a:ext cx="685800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Digunakan untuk mengatur posisi elemen: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static → default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relative → relatif dari posisi awal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absolute → relatif ke parent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fixed → tetap di layar (scroll tidak berubah)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sticky → campuran relative &amp; fixed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35480"/>
            <a:ext cx="26746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>
                <a:sym typeface="+mn-ea"/>
              </a:rPr>
              <a:t>Jenis Position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580640"/>
            <a:ext cx="6858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>
                <a:sym typeface="+mn-ea"/>
              </a:rPr>
              <a:t>Static, Relative, Absolute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35480"/>
            <a:ext cx="338455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>
                <a:sym typeface="+mn-ea"/>
              </a:rPr>
              <a:t>Position Lanjutan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580640"/>
            <a:ext cx="6858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>
                <a:sym typeface="+mn-ea"/>
              </a:rPr>
              <a:t>Fixed, Sticky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0420" y="1229360"/>
            <a:ext cx="4114165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3600" b="1">
                <a:sym typeface="+mn-ea"/>
              </a:rPr>
              <a:t>Display dan Visibility</a:t>
            </a:r>
            <a:endParaRPr lang="en-US" altLang="en-US" sz="3600" b="1"/>
          </a:p>
          <a:p>
            <a:endParaRPr 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Mengatur bagaimana elemen ditampilkan: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block → full lebar (div, p)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inline → sejajar (span)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inline-block → gabungan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none → tidak ditampilkan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0420" y="1229360"/>
            <a:ext cx="192151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3600" b="1">
                <a:sym typeface="+mn-ea"/>
              </a:rPr>
              <a:t> Visibility</a:t>
            </a:r>
            <a:endParaRPr lang="en-US" altLang="en-US" sz="3600" b="1"/>
          </a:p>
          <a:p>
            <a:endParaRPr 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4680" y="2194560"/>
            <a:ext cx="7609840" cy="1687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>
                <a:sym typeface="+mn-ea"/>
              </a:rPr>
              <a:t>visible, hidden</a:t>
            </a:r>
            <a:endParaRPr>
              <a:sym typeface="+mn-ea"/>
            </a:endParaRPr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91871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3600" b="1">
                <a:solidFill>
                  <a:srgbClr val="FFFFFF"/>
                </a:solidFill>
              </a:rPr>
              <a:t>Flexbox (Layout Modern)</a:t>
            </a:r>
            <a:endParaRPr lang="en-US" alt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Menyesuaikan b</a:t>
            </a:r>
            <a:r>
              <a:rPr lang="en-US"/>
              <a:t>a</a:t>
            </a:r>
            <a:r>
              <a:rPr lang="en-US" altLang="en-US"/>
              <a:t>Flexbox (Layout Modern)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Digunakan untuk membuat layout satu arah (baris/kolom).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22643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3600" b="1">
                <a:solidFill>
                  <a:srgbClr val="FFFFFF"/>
                </a:solidFill>
              </a:rPr>
              <a:t>Konsep Flexbox </a:t>
            </a:r>
            <a:endParaRPr lang="en-US" alt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Konsep utama: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container → parent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item → isi</a:t>
            </a:r>
            <a:r>
              <a:t>erbagai layar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75196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</a:rPr>
              <a:t>lanjutan</a:t>
            </a:r>
            <a:endParaRPr 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Properti penting: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display: flex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justify-content → horizontal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align-items → vertikal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flex-direction → arah (row/column)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0760"/>
            <a:ext cx="175196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</a:rPr>
              <a:t>lanjutan</a:t>
            </a:r>
            <a:endParaRPr 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Kelebihan: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✔ mudah mengatur posisi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✔ responsif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✔ sederhana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49400"/>
            <a:ext cx="53797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 b="1">
                <a:sym typeface="+mn-ea"/>
              </a:rPr>
              <a:t>CSS Grid (Layout Kompleks)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306320"/>
            <a:ext cx="685800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Digunakan untuk layout dua dimensi (baris &amp; kolom).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Contoh: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display: grid;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grid-template-columns: repeat(3, 1fr);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6684645" cy="23069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>
                <a:sym typeface="+mn-ea"/>
              </a:rPr>
              <a:t>Kelebihan:</a:t>
            </a:r>
            <a:endParaRPr lang="en-US" altLang="en-US" sz="3600"/>
          </a:p>
          <a:p>
            <a:pPr algn="l">
              <a:defRPr sz="2000">
                <a:solidFill>
                  <a:srgbClr val="E6E6E6"/>
                </a:solidFill>
              </a:defRPr>
            </a:pPr>
            <a:endParaRPr lang="en-US" altLang="en-US" sz="3600"/>
          </a:p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>
                <a:sym typeface="+mn-ea"/>
              </a:rPr>
              <a:t>Bisa buat layout kompleks</a:t>
            </a:r>
            <a:endParaRPr lang="en-US" altLang="en-US" sz="3600"/>
          </a:p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>
                <a:sym typeface="+mn-ea"/>
              </a:rPr>
              <a:t>Lebih terstruktur dibanding flexbox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9570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 b="1">
                <a:sym typeface="+mn-ea"/>
              </a:rPr>
              <a:t>Responsive Design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Membuat tampilan web bisa menyesuaikan berbagai ukuran layar.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Teknik: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Media Query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@media (max-width: 768px) {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  body { background: lightblue; }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}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Gunakan: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Flexbox/Grid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Satuan relatif (% , em , rem)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54810" y="3136900"/>
            <a:ext cx="37325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 b="1">
                <a:sym typeface="+mn-ea"/>
              </a:rPr>
              <a:t>Satuan Responsive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1140" y="3782060"/>
            <a:ext cx="6858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>
                <a:sym typeface="+mn-ea"/>
              </a:rPr>
              <a:t>%, em, rem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33311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>
                <a:sym typeface="+mn-ea"/>
              </a:rPr>
              <a:t>Best Practice CSS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Gunakan external CSS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Penamaan class jelas (misal: navbar, footer)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Gunakan Flexbox/Grid untuk layout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Hindari inline CSS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Gunakan responsive design</a:t>
            </a:r>
            <a:r>
              <a:t>uk UI modern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2215" y="2660650"/>
            <a:ext cx="149415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>
                <a:sym typeface="+mn-ea"/>
              </a:rPr>
              <a:t>RULES!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795" y="3429000"/>
            <a:ext cx="6916420" cy="14757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>
                <a:sym typeface="+mn-ea"/>
              </a:rPr>
              <a:t>Gunakan nama yang jelas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2405" y="2783840"/>
            <a:ext cx="30657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6E6"/>
                </a:solidFill>
              </a:defRPr>
            </a:pPr>
            <a:r>
              <a:rPr sz="3600">
                <a:sym typeface="+mn-ea"/>
              </a:rPr>
              <a:t>Agar kode rapi</a:t>
            </a:r>
            <a:r>
              <a:rPr lang="en-US" sz="3600">
                <a:sym typeface="+mn-ea"/>
              </a:rPr>
              <a:t>?</a:t>
            </a:r>
            <a:endParaRPr lang="en-US" sz="3600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2405" y="3429000"/>
            <a:ext cx="6858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>
                <a:sym typeface="+mn-ea"/>
              </a:rPr>
              <a:t>Hindari Inline CSS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33311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6E6"/>
                </a:solidFill>
              </a:defRPr>
            </a:pPr>
            <a:r>
              <a:rPr lang="en-US" altLang="en-US" sz="3600">
                <a:sym typeface="+mn-ea"/>
              </a:rPr>
              <a:t>Best Practice CSS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Gunakan external CSS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Penamaan class jelas (misal: navbar, footer)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Gunakan Flexbox/Grid untuk layout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Hindari inline CSS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Gunakan responsive design</a:t>
            </a:r>
            <a:r>
              <a:t>uk UI modern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40A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239395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3600" b="1">
                <a:solidFill>
                  <a:srgbClr val="FFFFFF"/>
                </a:solidFill>
              </a:rPr>
              <a:t>Kesimpulan</a:t>
            </a:r>
            <a:endParaRPr lang="en-US" altLang="en-US" sz="3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design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zh-CN" altLang="en-US"/>
              <a:t>🔹</a:t>
            </a:r>
            <a:r>
              <a:rPr lang="en-US" altLang="en-US"/>
              <a:t> Kesimpulan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CSS dan layouting adalah bagian penting dalam pengembangan web untuk: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Membuat tampilan menarik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Mengatur posisi elemen</a:t>
            </a:r>
            <a:endParaRPr lang="en-US" altLang="en-US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US" altLang="en-US"/>
              <a:t>Membuat website responsif</a:t>
            </a:r>
            <a:endParaRPr lang="en-US" altLang="en-US"/>
          </a:p>
        </p:txBody>
      </p:sp>
      <p:sp>
        <p:nvSpPr>
          <p:cNvPr id="5" name="Oval 4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3266</Words>
  <Application>WPS Presentation</Application>
  <PresentationFormat>On-screen Show (4:3)</PresentationFormat>
  <Paragraphs>229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HP</cp:lastModifiedBy>
  <cp:revision>2</cp:revision>
  <dcterms:created xsi:type="dcterms:W3CDTF">2013-01-27T09:14:00Z</dcterms:created>
  <dcterms:modified xsi:type="dcterms:W3CDTF">2026-04-29T15:00:16Z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6B274174CAAB40768022F1D1B3B7A7DA_13</vt:lpwstr>
  </property>
</Properties>
</file>